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Engineering Efficiency with AI Pair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8C8E8"/>
                </a:solidFill>
                <a:latin typeface="Calibri"/>
              </a:rPr>
              <a:t>A Case Study of BzHub — One Product Owner, One Claude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3657600" cy="36576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A87"/>
                </a:solidFill>
                <a:latin typeface="Calibri"/>
              </a:rPr>
              <a:t>AUTHOR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8404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DEE"/>
                </a:solidFill>
                <a:latin typeface="Calibri"/>
              </a:rPr>
              <a:t>sunder-vasudevan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8795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A87"/>
                </a:solidFill>
                <a:latin typeface="Calibri"/>
              </a:rPr>
              <a:t>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18795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DEE"/>
                </a:solidFill>
                <a:latin typeface="Calibri"/>
              </a:rPr>
              <a:t>March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3542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A87"/>
                </a:solidFill>
                <a:latin typeface="Calibri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53542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DEE"/>
                </a:solidFill>
                <a:latin typeface="Calibri"/>
              </a:rPr>
              <a:t>1.1 — with measured interaction time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8289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A87"/>
                </a:solidFill>
                <a:latin typeface="Calibri"/>
              </a:rPr>
              <a:t>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8828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DEE"/>
                </a:solidFill>
                <a:latin typeface="Calibri"/>
              </a:rPr>
              <a:t>Technical Peers</a:t>
            </a:r>
          </a:p>
        </p:txBody>
      </p:sp>
      <p:pic>
        <p:nvPicPr>
          <p:cNvPr id="16" name="Picture 15" descr="bizhu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5394960"/>
            <a:ext cx="4023360" cy="12801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9AA"/>
                </a:solidFill>
                <a:latin typeface="Calibri"/>
              </a:rPr>
              <a:t>© 2026 sunder-vasudevan.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01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The Challenge: Building a Full Product Alone Is Hard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120640" cy="4389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88"/>
                </a:solidFill>
                <a:latin typeface="Calibri"/>
              </a:rPr>
              <a:t>TRADITIONAL SOLO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Context-switches kill momentum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Full-stack gaps slow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968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Documentation is always last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80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Architecture decisions made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649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Cognitive fatigue limits sprint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Hiring a team = 3–6 month delay + 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5760720" cy="438912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4173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THE QUESTION THIS STUDY ANSWERS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5303520" cy="1371600"/>
          </a:xfrm>
          <a:prstGeom prst="rect">
            <a:avLst/>
          </a:prstGeom>
          <a:solidFill>
            <a:srgbClr val="E8F4F6"/>
          </a:solidFill>
          <a:ln w="254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938528"/>
            <a:ext cx="50292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2B5C"/>
                </a:solidFill>
                <a:latin typeface="Calibri"/>
              </a:rPr>
              <a:t>Can one Product Owner working with Claude as a full-session AI pair-programmer match the output of a traditional 3-person startup development team — in velocity, scope, and quality?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337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8C00"/>
                </a:solidFill>
                <a:latin typeface="Calibri"/>
              </a:rPr>
              <a:t>SPOILER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1188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Yes — 2–4x velocity multiplier confirmed by git data and measured logs: 105 mins of interaction → 6 production releases → 60–120x compression ratio.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02  THE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BzHub: A Real Product, Built in 31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Calendar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~10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Active coding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Total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Production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Live modules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137160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5B99"/>
                </a:solidFill>
                <a:latin typeface="Calibri"/>
              </a:rPr>
              <a:t>~15,800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Net new LOC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34640"/>
            <a:ext cx="11274552" cy="228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88"/>
                </a:solidFill>
                <a:latin typeface="Calibri"/>
              </a:rPr>
              <a:t>ARCHITECTURE EVOLUTION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37560"/>
            <a:ext cx="3200400" cy="137160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47288"/>
            <a:ext cx="2980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v1.0
Feb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794760"/>
            <a:ext cx="29809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D8F0"/>
                </a:solidFill>
                <a:latin typeface="Calibri"/>
              </a:rPr>
              <a:t>Desktop App
Tkinter /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840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A87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39" y="3337560"/>
            <a:ext cx="3200400" cy="137160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7" y="3447288"/>
            <a:ext cx="2980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v2.0
Feb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7" y="3794760"/>
            <a:ext cx="29809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D8F0"/>
                </a:solidFill>
                <a:latin typeface="Calibri"/>
              </a:rPr>
              <a:t>Web + API
Next.js + FastAPI
+ SQLite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3840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A87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78" y="3337560"/>
            <a:ext cx="3200400" cy="137160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6" y="3447288"/>
            <a:ext cx="29809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v4.0
Mar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6" y="3794760"/>
            <a:ext cx="29809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D8F0"/>
                </a:solidFill>
                <a:latin typeface="Calibri"/>
              </a:rPr>
              <a:t>Cloud SaaS
Next.js + Supabase
+ Vercel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920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Each migration was deliberate, documented, and completed in a single sprint without breaking the deployed 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03 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9 Live Modules. Full Stack. Cloud-Deployed.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394960" cy="10058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KPI cards, trend chart, Smart Insights, customizable layout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394960" cy="100584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4173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0992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Inventory, POS, Bills, Suppliers, Purchase Orders +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5394960" cy="10058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89864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Employees, Payroll, Goals, Appraisals, Skills, Leave +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514600"/>
            <a:ext cx="5394960" cy="100584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060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9864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Contacts, Leads — List / Kanban / Funnel views, lead scoring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394960" cy="10058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REPORTS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8736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Report, Top Sellers, Inventory Report + CSV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703320"/>
            <a:ext cx="5394960" cy="100584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SETTINGS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08736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Company info, currency, industry templates, brand color, Custom Fields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92040"/>
            <a:ext cx="5394960" cy="10058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983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HELP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27608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In-app user guide for all modules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892040"/>
            <a:ext cx="5394960" cy="100584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983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EMPLOYEE SELF-SERVICE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27608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My Goals, My Appraisals, My Leave, My Skills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80760"/>
            <a:ext cx="5394960" cy="10058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61722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B99"/>
                </a:solidFill>
                <a:latin typeface="Calibri"/>
              </a:rPr>
              <a:t>NOTIFICATIONS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Bell icon: pending leave / PO / appraisal / low-stock alerts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04 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The 2-Day Sprint: 10 Releases, ~7,200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347472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Release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6675120" cy="347472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392" y="128016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234440"/>
            <a:ext cx="1005840" cy="347472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280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81912"/>
            <a:ext cx="14630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627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v4.1.x–4.5.0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581912"/>
            <a:ext cx="667512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62763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Cloud, Reports, HR, Approvals, Employee Portal (5 releases)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1581912"/>
            <a:ext cx="10058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16276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~4,372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29384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1975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v4.6.0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1929384"/>
            <a:ext cx="6675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93392" y="197510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Notification Center, CSV Export, Global Search, Audit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1929384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19751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1,267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276856"/>
            <a:ext cx="14630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23225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v4.7.0 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2276856"/>
            <a:ext cx="667512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3392" y="2322576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Industry Templates  [Session 2 — 25 min]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2276856"/>
            <a:ext cx="10058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68512" y="23225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169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624328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v4.7.1 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2624328"/>
            <a:ext cx="6675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93392" y="267004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Dynamic brand color — 24 files  [Session 3 — 35 min]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2624328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8512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971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71800"/>
            <a:ext cx="14630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v4.8.0 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2971800"/>
            <a:ext cx="667512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3392" y="30175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Smart Insights dashboard card  [Session 3]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2971800"/>
            <a:ext cx="10058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68512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196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31927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33649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v4.9.x 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3319272"/>
            <a:ext cx="66751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93392" y="336499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CRM view switcher: List/Kanban/Funnel  [Session 3]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3319272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8512" y="33649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264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666744"/>
            <a:ext cx="14630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7124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TOTAL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20240" y="3666744"/>
            <a:ext cx="667512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93392" y="371246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10 releases  ·  all layers  ·  2 calendar days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3666744"/>
            <a:ext cx="1005840" cy="34747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68512" y="37124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~7,239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1234440"/>
            <a:ext cx="2194560" cy="2779776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84080" y="1353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  <a:latin typeface="Calibri"/>
              </a:rPr>
              <a:t>IN 2 DAYS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1719072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23134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2F4F7"/>
                </a:solidFill>
                <a:latin typeface="Calibri"/>
              </a:rPr>
              <a:t>production releases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2633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2F4F7"/>
                </a:solidFill>
                <a:latin typeface="Calibri"/>
              </a:rPr>
              <a:t>shipped to cloud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80" y="3017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007A87"/>
                </a:solidFill>
                <a:latin typeface="Calibri"/>
              </a:rPr>
              <a:t>● = logged session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4224528"/>
            <a:ext cx="11247120" cy="658368"/>
          </a:xfrm>
          <a:prstGeom prst="rect">
            <a:avLst/>
          </a:prstGeom>
          <a:solidFill>
            <a:srgbClr val="E8F4F6"/>
          </a:solidFill>
          <a:ln w="254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" y="4334256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2B5C"/>
                </a:solidFill>
                <a:latin typeface="Calibri"/>
              </a:rPr>
              <a:t>Sessions 2 + 3 (60 mins combined interaction time) produced 7 of these 10 releases. A 3-person team would realistically require 3–6 two-week sprints for this scope. The AI-assisted pair compressed it to 2 calendar days.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04B  MEASURED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105 Minutes of Interaction → 6 Production Releases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291840" cy="329184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Session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9344"/>
            <a:ext cx="3291840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B5C"/>
                </a:solidFill>
                <a:latin typeface="Calibri"/>
              </a:rPr>
              <a:t>~45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774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RELEASES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060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2B5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272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6499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Efficiency whitepaper,
doc generators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280160"/>
            <a:ext cx="3291840" cy="329184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33088" y="1298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Session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1609344"/>
            <a:ext cx="3291840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33088" y="1691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1920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5B99"/>
                </a:solidFill>
                <a:latin typeface="Calibri"/>
              </a:rPr>
              <a:t>~25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23774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RELEASES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8" y="26060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2B5C"/>
                </a:solidFill>
                <a:latin typeface="Calibri"/>
              </a:rPr>
              <a:t>v4.7.0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8" y="31272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3088" y="336499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Industry Templates
(FEAT-038)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1280160"/>
            <a:ext cx="32918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1298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Session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1609344"/>
            <a:ext cx="3291840" cy="2231136"/>
          </a:xfrm>
          <a:prstGeom prst="rect">
            <a:avLst/>
          </a:prstGeom>
          <a:solidFill>
            <a:srgbClr val="E0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691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1920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A87"/>
                </a:solidFill>
                <a:latin typeface="Calibri"/>
              </a:rPr>
              <a:t>~35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23774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RELEASES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8" y="26060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2B5C"/>
                </a:solidFill>
                <a:latin typeface="Calibri"/>
              </a:rPr>
              <a:t>v4.7.1 – v4.9.2
(6 releases)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31272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336499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Brand color, Smart Insights,
CRM List/Kanban/Funnel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13632"/>
            <a:ext cx="10698480" cy="402336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59352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TOTAL:  ~105 mins interaction  →  6 production releases  →  ~1,600 net LOC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407408"/>
            <a:ext cx="4572000" cy="233916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4434840"/>
            <a:ext cx="6492240" cy="877824"/>
          </a:xfrm>
          <a:prstGeom prst="rect">
            <a:avLst/>
          </a:prstGeom>
          <a:solidFill>
            <a:srgbClr val="E8F4F6"/>
          </a:solidFill>
          <a:ln w="254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544568"/>
            <a:ext cx="6217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2B5C"/>
                </a:solidFill>
                <a:latin typeface="Calibri"/>
              </a:rPr>
              <a:t>Session 3: 35 mins → 6 releases
≈ 3–6 engineer-weeks of traditional work
→ 60–120x compression ratio on interaction 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05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1 Product Owner + Claude vs. 3-Person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384048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34440"/>
            <a:ext cx="4114800" cy="384048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3552" y="128016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1 PO + Claude  (31 days)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234440"/>
            <a:ext cx="4114800" cy="384048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8352" y="128016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3-Person Team  (31 days est.)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18488"/>
            <a:ext cx="27432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Major releases shipped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618488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664208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11  (v1.0 → v5.0.0)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618488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2" y="1664208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3–5  (1–2 per 2-week sprint)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02536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04825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Architecture migrations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002536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204825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3 full paradigm shifts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002536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204825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Likely 1  (dedicated project)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86584"/>
            <a:ext cx="27432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243230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Live modules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386584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3552" y="2432304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386584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88352" y="2432304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4–6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770632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81635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Documentation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277063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73552" y="2816352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Per-feature  (project rule)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77063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8352" y="2816352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Varies — often deferred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54680"/>
            <a:ext cx="27432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320040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Deployment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154680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3552" y="320040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Fully automated  (Vercel CI)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3154680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88352" y="320040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2–5 days setup for a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53872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358444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Measured PO interaction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3538728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73552" y="3584448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~105 mins  (3 logged sessions)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3538728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584448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N/A — team always staffed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922776"/>
            <a:ext cx="27432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68496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Handoff overhead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3922776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73552" y="396849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Zero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922776"/>
            <a:ext cx="4114800" cy="3840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88352" y="3968496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15–25% of sprint capacity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86460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Calibri"/>
              </a:rPr>
              <a:t>* 3-person team estimates based on conventional startup sprint norms, not empirical benchmarks.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212080"/>
            <a:ext cx="11247120" cy="658368"/>
          </a:xfrm>
          <a:prstGeom prst="rect">
            <a:avLst/>
          </a:prstGeom>
          <a:solidFill>
            <a:srgbClr val="E8F4F6"/>
          </a:solidFill>
          <a:ln w="254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32180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2B5C"/>
                </a:solidFill>
                <a:latin typeface="Calibri"/>
              </a:rPr>
              <a:t>Key finding: One Product Owner + Claude approximates the feature throughput of a 3-person startup team. Velocity multiplier: 2–4x at project level. Session 3 alone demonstrates a 60–120x compression ratio on interaction time.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06 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Where the Gains Come From: 4 Structural 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38912" cy="438912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B99"/>
                </a:solidFill>
                <a:latin typeface="Calibri"/>
              </a:rPr>
              <a:t>Zero Handoff Overhead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783080"/>
            <a:ext cx="4846320" cy="228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56232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Full-stack features are conceived, designed, and implemented in a single session. No PRs, Slack threads, or standup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438912" cy="43891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2588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325880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  <a:latin typeface="Calibri"/>
              </a:rPr>
              <a:t>Persistent Cross-Session Context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783080"/>
            <a:ext cx="4846320" cy="228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856232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Structured NOTES.md + memory files preserve full project state. Claude resumes with context a new hire would take 1–2 weeks to acquire.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438912" cy="43891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On-Demand Full-Stack Competency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114800"/>
            <a:ext cx="4846320" cy="228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87952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Competent first-draft implementations across Next.js, Supabase, Recharts, and Tailwind — eliminating the "look this up for 45 minutes" tax.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657600"/>
            <a:ext cx="438912" cy="4389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65760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657600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B2D8E"/>
                </a:solidFill>
                <a:latin typeface="Calibri"/>
              </a:rPr>
              <a:t>Documentation as a Side-Effect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4114800"/>
            <a:ext cx="4846320" cy="228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187952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Release notes, help page, and memory files updated after every feature — a discipline that is rare solo and hard to sustain in teams under pressure.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07 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Speed Did Not Come at the Cost of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88"/>
                </a:solidFill>
                <a:latin typeface="Calibri"/>
              </a:rPr>
              <a:t>QUALITY SIGNALS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Each architecture migration preceded by a documented decision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Every migration left codebase in stable, deployed state before the next began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Known technical debt explicitly logged — not hidden — with a resolution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63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Per-feature documentation enforced as a hard project rule (5-step checklist)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204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 Intentional debt (hardcoded auth, open RLS) acknowledged with planned fix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8888"/>
                </a:solidFill>
                <a:latin typeface="Calibri"/>
              </a:rPr>
              <a:t>INTENTIONAL DEBT — TRACKED, NOT HIDDEN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2651760" cy="54864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3736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Known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691640"/>
            <a:ext cx="2651760" cy="54864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173736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Planned Fix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26517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8600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Hardcoded auth
(admin/admin123)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240280"/>
            <a:ext cx="26517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228600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FEAT-036: Supabase Auth
(Phase 3)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788920"/>
            <a:ext cx="26517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3464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Open RLS policies
(no user filter)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88920"/>
            <a:ext cx="26517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283464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Tightens when auth ships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337560"/>
            <a:ext cx="26517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8328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No organization_id
on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3337560"/>
            <a:ext cx="265176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3383280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FEAT-037: Multi-Tenancy
(Phase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11247120" cy="658368"/>
          </a:xfrm>
          <a:prstGeom prst="rect">
            <a:avLst/>
          </a:prstGeom>
          <a:solidFill>
            <a:srgbClr val="E8F4F6"/>
          </a:solidFill>
          <a:ln w="254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13892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2B5C"/>
                </a:solidFill>
                <a:latin typeface="Calibri"/>
              </a:rPr>
              <a:t>"This reflects the discipline of an experienced Product Owner, not the output of unchecked code generation. Architecture was never sacrificed for speed."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A87"/>
                </a:solidFill>
                <a:latin typeface="Calibri"/>
              </a:rPr>
              <a:t>08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Verdict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73152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A8C8E8"/>
                </a:solidFill>
                <a:latin typeface="Calibri"/>
              </a:rPr>
              <a:t>One Product Owner + Claude ≈ 3-Person Startup Dev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DEE"/>
                </a:solidFill>
                <a:latin typeface="Calibri"/>
              </a:rPr>
              <a:t>11 releases  ·  9 modules  ·  3 architecture migrations  ·  31 calendar days  ·  105 mins measured interaction time.
Session 3: 35 mins → 6 releases → ~60–120x compression ratio on human direction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23360"/>
            <a:ext cx="2468880" cy="493776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2286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Zero handoff 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023360"/>
            <a:ext cx="2468880" cy="493776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4069080"/>
            <a:ext cx="2286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Persistent cross-session context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023360"/>
            <a:ext cx="2468880" cy="493776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4069080"/>
            <a:ext cx="2286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On-demand full-stack competency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4023360"/>
            <a:ext cx="2468880" cy="493776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069080"/>
            <a:ext cx="2286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Documentation as a side-effect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7A87"/>
                </a:solidFill>
                <a:latin typeface="Calibri"/>
              </a:rPr>
              <a:t>The gains are structural — not simply "Claude writes code faster."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9AA"/>
                </a:solidFill>
                <a:latin typeface="Calibri"/>
              </a:rPr>
              <a:t>© 2026 sunder-vasudevan.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2560320" cy="20116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6459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09 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2B5C"/>
                </a:solidFill>
                <a:latin typeface="Calibri"/>
              </a:rPr>
              <a:t>How to Apply This Model to Your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2860"/>
          </a:xfrm>
          <a:prstGeom prst="rect">
            <a:avLst/>
          </a:prstGeom>
          <a:solidFill>
            <a:srgbClr val="00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394960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35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B9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356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B5C"/>
                </a:solidFill>
                <a:latin typeface="Calibri"/>
              </a:rPr>
              <a:t>Invest in context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A live NOTES.md session-start document eliminates the 15–30 min catch-up cost at the start of every AI session. This is the single highest-leverage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394960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35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B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356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B5C"/>
                </a:solidFill>
                <a:latin typeface="Calibri"/>
              </a:rPr>
              <a:t>Treat Claude as a full-session collaborator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Piecemeal queries do not capture the compounding gains. Sustained sessions where Claude holds architectural context are where the multiplier lives.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5394960" cy="210312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67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B99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673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B5C"/>
                </a:solidFill>
                <a:latin typeface="Calibri"/>
              </a:rPr>
              <a:t>Keep the Product Owner in the architecture seat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062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Define what to build and why before asking Claude to help build it. Product direction and quality gate remain the human's responsibility.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657600"/>
            <a:ext cx="5394960" cy="2103120"/>
          </a:xfrm>
          <a:prstGeom prst="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67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B99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7673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B5C"/>
                </a:solidFill>
                <a:latin typeface="Calibri"/>
              </a:rPr>
              <a:t>Log interaction time from day 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2062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This project only began logging at v4.7.0. A complete log from the start would make the efficiency analysis definitive. Use a simple markdown table per session.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601968"/>
            <a:ext cx="11640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BzHub Efficiency Case Study  |  March 2026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