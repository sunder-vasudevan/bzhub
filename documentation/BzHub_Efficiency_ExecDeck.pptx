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97" d="100"/>
          <a:sy n="97" d="100"/>
        </p:scale>
        <p:origin x="704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3657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latin typeface="Calibri"/>
              </a:rPr>
              <a:t>Engineering Efficiency with AI Pair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latin typeface="Calibri"/>
              </a:rPr>
              <a:t>A Case Study of </a:t>
            </a:r>
            <a:r>
              <a:rPr sz="2400" b="0" i="0" dirty="0" err="1">
                <a:latin typeface="Calibri"/>
              </a:rPr>
              <a:t>BzHub</a:t>
            </a:r>
            <a:r>
              <a:rPr sz="2400" b="0" i="0" dirty="0">
                <a:latin typeface="Calibri"/>
              </a:rPr>
              <a:t> — One Product Owner, One Claude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3657600" cy="3657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latin typeface="Calibri"/>
              </a:rP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840480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latin typeface="Calibri"/>
              </a:rPr>
              <a:t>sunder-vasudevan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87952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latin typeface="Calibri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187952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latin typeface="Calibri"/>
              </a:rPr>
              <a:t>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35424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latin typeface="Calibri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535424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latin typeface="Calibri"/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82896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latin typeface="Calibri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882896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latin typeface="Calibri"/>
              </a:rPr>
              <a:t>Technical Peers</a:t>
            </a:r>
          </a:p>
        </p:txBody>
      </p:sp>
      <p:pic>
        <p:nvPicPr>
          <p:cNvPr id="16" name="Picture 15" descr="bizhu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95905"/>
            <a:ext cx="4023360" cy="12801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116403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latin typeface="Calibri"/>
              </a:rPr>
              <a:t>© 2026 sunder-vasudevan.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01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The Challenge: Building a Full Product Alone Is Hard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120640" cy="4389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TRADITIONAL SOLO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Context-switches kill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Full-stack gaps slow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968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Documentation is always last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809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Architecture decisions made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Cognitive fatigue limits sprint 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Hiring a team = 3–6 month delay +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5760720" cy="43891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B99"/>
                </a:solidFill>
                <a:latin typeface="Calibri"/>
              </a:rPr>
              <a:t>THE QUESTION THIS STUDY ANSWERS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5303520" cy="1371600"/>
          </a:xfrm>
          <a:prstGeom prst="rect">
            <a:avLst/>
          </a:prstGeom>
          <a:solidFill>
            <a:srgbClr val="E8F4F6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938528"/>
            <a:ext cx="50292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2B5C"/>
                </a:solidFill>
                <a:latin typeface="Calibri"/>
              </a:rPr>
              <a:t>Can one Product Owner working with Claude as a full-session AI pair-programmer match the output of a traditional 3-person startup development team — in velocity, scope, and quality?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8C00"/>
                </a:solidFill>
                <a:latin typeface="Calibri"/>
              </a:rPr>
              <a:t>SPOILER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118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Yes — with a 2–3x velocity multiplier confirmed by both git data and the Product Owner's self-assessment.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BzHub Efficiency Case Study  |  March 2026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02  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BzHub: A Real Product, Built in 31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5B99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Calendar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5B99"/>
                </a:solidFill>
                <a:latin typeface="Calibri"/>
              </a:rPr>
              <a:t>~10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Active coding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5B99"/>
                </a:solidFill>
                <a:latin typeface="Calibri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Total commits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5B99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Production releases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5B99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Live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1371600"/>
            <a:ext cx="22218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005B99"/>
                </a:solidFill>
                <a:latin typeface="Calibri"/>
              </a:rPr>
              <a:t>~12,600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Net new LOC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11274552" cy="228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ARCHITECTURE EVOLUTION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37560"/>
            <a:ext cx="3200400" cy="137160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566928" y="3447288"/>
            <a:ext cx="2980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v1.0
Feb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94760"/>
            <a:ext cx="2980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0D8F0"/>
                </a:solidFill>
                <a:latin typeface="Calibri"/>
              </a:rPr>
              <a:t>Desktop App
</a:t>
            </a:r>
            <a:r>
              <a:rPr sz="1400" b="0" i="0" dirty="0" err="1">
                <a:solidFill>
                  <a:srgbClr val="C0D8F0"/>
                </a:solidFill>
                <a:latin typeface="Calibri"/>
              </a:rPr>
              <a:t>Tkinter</a:t>
            </a:r>
            <a:r>
              <a:rPr sz="1400" b="0" i="0" dirty="0">
                <a:solidFill>
                  <a:srgbClr val="C0D8F0"/>
                </a:solidFill>
                <a:latin typeface="Calibri"/>
              </a:rPr>
              <a:t> /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84048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7A87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39" y="3337560"/>
            <a:ext cx="3200400" cy="137160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4315967" y="3447288"/>
            <a:ext cx="2980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v2.0
Feb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7" y="3794760"/>
            <a:ext cx="29809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8F0"/>
                </a:solidFill>
                <a:latin typeface="Calibri"/>
              </a:rPr>
              <a:t>Web + API
Next.js + FastAPI
+ 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384048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7A87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8" y="3337560"/>
            <a:ext cx="3200400" cy="137160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8065006" y="3447288"/>
            <a:ext cx="2980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v4.0
Mar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6" y="3794760"/>
            <a:ext cx="29809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8F0"/>
                </a:solidFill>
                <a:latin typeface="Calibri"/>
              </a:rPr>
              <a:t>Cloud SaaS
Next.js + Supabase
+ Vercel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920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Each migration was deliberate, documented, and completed in a single sprint without breaking the deployed state.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BzHub Efficiency Case Study  |  March 2026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03 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8 Live Modules. Full Stack. Cloud-Deployed.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9"/>
                </a:solidFill>
                <a:latin typeface="Calibri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KPI cards, trend chart, fast/slow movers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394960" cy="10058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9"/>
                </a:solidFill>
                <a:latin typeface="Calibri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0992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Inventory, POS, Bills, Suppliers, Purchase Orders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539496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9"/>
                </a:solidFill>
                <a:latin typeface="Calibri"/>
              </a:rPr>
              <a:t>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9864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Employees, Payroll, Goals, Appraisals, Skills, Leave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514600"/>
            <a:ext cx="5394960" cy="10058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9"/>
                </a:solidFill>
                <a:latin typeface="Calibri"/>
              </a:rPr>
              <a:t>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9864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Contacts, Leads, Kanban pipeline, lead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539496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594360" y="379476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9"/>
                </a:solidFill>
                <a:latin typeface="Calibri"/>
              </a:rP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8736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Sales Report, Top Sellers chart, Inventory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03320"/>
            <a:ext cx="5394960" cy="10058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6355080" y="379476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9"/>
                </a:solidFill>
                <a:latin typeface="Calibri"/>
              </a:rPr>
              <a:t>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8736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Company info, currency selector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539496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594360" y="498348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9"/>
                </a:solidFill>
                <a:latin typeface="Calibri"/>
              </a:rPr>
              <a:t>HELP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27608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In-app user guide for all modules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892040"/>
            <a:ext cx="5394960" cy="10058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6355080" y="498348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9"/>
                </a:solidFill>
                <a:latin typeface="Calibri"/>
              </a:rPr>
              <a:t>EMPLOYEE SELF-SERVICE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27608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My Goals, My Appraisals, My Leave, My Skills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BzHub Efficiency Case Study  |  March 2026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04 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The 48-Hour Sprint: 5 Releases, ~4,400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88720" cy="347472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09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234440"/>
            <a:ext cx="6217920" cy="347472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1719072" y="128016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234440"/>
            <a:ext cx="1371600" cy="347472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7936992" y="1280160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LOC Added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81912"/>
            <a:ext cx="118872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530352" y="1627632"/>
            <a:ext cx="109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v4.1.x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581912"/>
            <a:ext cx="621792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1719072" y="1627632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Cloud deployment + mobile responsive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581912"/>
            <a:ext cx="137160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7936992" y="1627632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~495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29384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530352" y="1975104"/>
            <a:ext cx="109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v4.2.0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1929384"/>
            <a:ext cx="6217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1719072" y="1975104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Reports page + Supplier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929384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7936992" y="1975104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699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76856"/>
            <a:ext cx="118872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530352" y="2322576"/>
            <a:ext cx="109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v4.3.0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2276856"/>
            <a:ext cx="621792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1719072" y="2322576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Goals, Appraisals, Skills Matrix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276856"/>
            <a:ext cx="137160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7936992" y="2322576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1,302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24328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530352" y="2670048"/>
            <a:ext cx="109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v4.4.0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2624328"/>
            <a:ext cx="6217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3" name="TextBox 32"/>
          <p:cNvSpPr txBox="1"/>
          <p:nvPr/>
        </p:nvSpPr>
        <p:spPr>
          <a:xfrm>
            <a:off x="1719072" y="2670048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3 Approval workflows + DB schema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624328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5" name="TextBox 34"/>
          <p:cNvSpPr txBox="1"/>
          <p:nvPr/>
        </p:nvSpPr>
        <p:spPr>
          <a:xfrm>
            <a:off x="7936992" y="2670048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1,209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71800"/>
            <a:ext cx="118872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TextBox 36"/>
          <p:cNvSpPr txBox="1"/>
          <p:nvPr/>
        </p:nvSpPr>
        <p:spPr>
          <a:xfrm>
            <a:off x="530352" y="3017520"/>
            <a:ext cx="109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v4.5.0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2971800"/>
            <a:ext cx="621792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9" name="TextBox 38"/>
          <p:cNvSpPr txBox="1"/>
          <p:nvPr/>
        </p:nvSpPr>
        <p:spPr>
          <a:xfrm>
            <a:off x="1719072" y="301752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Employee Self-Service Portal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2971800"/>
            <a:ext cx="1371600" cy="3474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1" name="TextBox 40"/>
          <p:cNvSpPr txBox="1"/>
          <p:nvPr/>
        </p:nvSpPr>
        <p:spPr>
          <a:xfrm>
            <a:off x="7936992" y="3017520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667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319272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3" name="TextBox 42"/>
          <p:cNvSpPr txBox="1"/>
          <p:nvPr/>
        </p:nvSpPr>
        <p:spPr>
          <a:xfrm>
            <a:off x="530352" y="3364992"/>
            <a:ext cx="109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TOTAL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0" y="3319272"/>
            <a:ext cx="6217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5" name="TextBox 44"/>
          <p:cNvSpPr txBox="1"/>
          <p:nvPr/>
        </p:nvSpPr>
        <p:spPr>
          <a:xfrm>
            <a:off x="1719072" y="3364992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5 releases  ·  6 cross-layer features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3319272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7" name="TextBox 46"/>
          <p:cNvSpPr txBox="1"/>
          <p:nvPr/>
        </p:nvSpPr>
        <p:spPr>
          <a:xfrm>
            <a:off x="7936992" y="3364992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~4,372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1234440"/>
            <a:ext cx="2377440" cy="2432304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46920" y="137160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7A87"/>
                </a:solidFill>
                <a:latin typeface="Calibri"/>
              </a:rPr>
              <a:t>IN 48 HOURS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1660067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2450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2F4F7"/>
                </a:solidFill>
                <a:latin typeface="Calibri"/>
              </a:rPr>
              <a:t>production releases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2697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2F4F7"/>
                </a:solidFill>
                <a:latin typeface="Calibri"/>
              </a:rPr>
              <a:t>shipped to cloud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114800"/>
            <a:ext cx="11247120" cy="804672"/>
          </a:xfrm>
          <a:prstGeom prst="rect">
            <a:avLst/>
          </a:prstGeom>
          <a:solidFill>
            <a:srgbClr val="E8F4F6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TextBox 53"/>
          <p:cNvSpPr txBox="1"/>
          <p:nvPr/>
        </p:nvSpPr>
        <p:spPr>
          <a:xfrm>
            <a:off x="594360" y="42245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2B5C"/>
                </a:solidFill>
                <a:latin typeface="Calibri"/>
              </a:rPr>
              <a:t>For a 3-person team, this block of work would realistically require 1–2 two-week sprints (3–4 calendar weeks), including sprint planning, async coordination, code review cycles, and deployment handoffs.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BzHub Efficiency Case Study  |  March 2026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05 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1 Product Owner + Claude vs. 3-Person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743200" cy="384048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234440"/>
            <a:ext cx="4114800" cy="384048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3273552" y="1280160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 PO + Claude  (31 days)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4114800" cy="384048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7388352" y="1280160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3-Person Team  (31 days est.)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18488"/>
            <a:ext cx="27432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530352" y="1664208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Major releases shipped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618488"/>
            <a:ext cx="41148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3273552" y="1664208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9  (v1.0 → v4.5.0)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618488"/>
            <a:ext cx="41148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7388352" y="1664208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3–5  (1–2 per 2-week sprint)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02536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530352" y="2048256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Architecture migrations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002536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3273552" y="2048256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3 full paradigm shifts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002536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7388352" y="2048256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Likely 1  (dedicated project)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386584"/>
            <a:ext cx="27432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530352" y="2432304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Live modules delivered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386584"/>
            <a:ext cx="41148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3273552" y="2432304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386584"/>
            <a:ext cx="41148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7388352" y="2432304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4–6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70632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530352" y="2816352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770632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3" name="TextBox 32"/>
          <p:cNvSpPr txBox="1"/>
          <p:nvPr/>
        </p:nvSpPr>
        <p:spPr>
          <a:xfrm>
            <a:off x="3273552" y="2816352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Per-feature  (project rule)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770632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5" name="TextBox 34"/>
          <p:cNvSpPr txBox="1"/>
          <p:nvPr/>
        </p:nvSpPr>
        <p:spPr>
          <a:xfrm>
            <a:off x="7388352" y="2816352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Varies — often deferred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54680"/>
            <a:ext cx="27432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TextBox 36"/>
          <p:cNvSpPr txBox="1"/>
          <p:nvPr/>
        </p:nvSpPr>
        <p:spPr>
          <a:xfrm>
            <a:off x="530352" y="320040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Deployment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154680"/>
            <a:ext cx="41148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9" name="TextBox 38"/>
          <p:cNvSpPr txBox="1"/>
          <p:nvPr/>
        </p:nvSpPr>
        <p:spPr>
          <a:xfrm>
            <a:off x="3273552" y="3200400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Fully automated  (Vercel CI)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3154680"/>
            <a:ext cx="41148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1" name="TextBox 40"/>
          <p:cNvSpPr txBox="1"/>
          <p:nvPr/>
        </p:nvSpPr>
        <p:spPr>
          <a:xfrm>
            <a:off x="7388352" y="3200400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2–5 days setup for a team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538728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3" name="TextBox 42"/>
          <p:cNvSpPr txBox="1"/>
          <p:nvPr/>
        </p:nvSpPr>
        <p:spPr>
          <a:xfrm>
            <a:off x="530352" y="3584448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Handoff overhead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3538728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5" name="TextBox 44"/>
          <p:cNvSpPr txBox="1"/>
          <p:nvPr/>
        </p:nvSpPr>
        <p:spPr>
          <a:xfrm>
            <a:off x="3273552" y="3584448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Zero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3538728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7" name="TextBox 46"/>
          <p:cNvSpPr txBox="1"/>
          <p:nvPr/>
        </p:nvSpPr>
        <p:spPr>
          <a:xfrm>
            <a:off x="7388352" y="3584448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15–25% of sprint capacity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52628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* 3-person team estimates based on conventional startup sprint norms, not empirical benchmarks.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892040"/>
            <a:ext cx="11247120" cy="804672"/>
          </a:xfrm>
          <a:prstGeom prst="rect">
            <a:avLst/>
          </a:prstGeom>
          <a:solidFill>
            <a:srgbClr val="E8F4F6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0" name="TextBox 49"/>
          <p:cNvSpPr txBox="1"/>
          <p:nvPr/>
        </p:nvSpPr>
        <p:spPr>
          <a:xfrm>
            <a:off x="594360" y="5001768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2B5C"/>
                </a:solidFill>
                <a:latin typeface="Calibri"/>
              </a:rPr>
              <a:t>Key finding: One Product Owner + Claude approximates the feature throughput of a 3-person startup team. The velocity multiplier is 2–3x, confirmed by both git-derived data and the Product Owner's own assessment.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BzHub Efficiency Case Study  |  March 2026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06 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Where the Gains Come From: 4 Structural 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38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5B99"/>
                </a:solidFill>
                <a:latin typeface="Calibri"/>
              </a:rPr>
              <a:t>Zero Handoff Overhead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783080"/>
            <a:ext cx="4846320" cy="228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1005840" y="1856232"/>
            <a:ext cx="4846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1A2E"/>
                </a:solidFill>
                <a:latin typeface="Calibri"/>
              </a:rPr>
              <a:t>Full-stack features are conceived, designed, and implemented in a single session. No PRs, Slack threads, or standup latency.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438912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438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325880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7A87"/>
                </a:solidFill>
                <a:latin typeface="Calibri"/>
              </a:rPr>
              <a:t>Persistent Cross-Session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783080"/>
            <a:ext cx="4846320" cy="228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6766560" y="1856232"/>
            <a:ext cx="4846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1A2E"/>
                </a:solidFill>
                <a:latin typeface="Calibri"/>
              </a:rPr>
              <a:t>Structured NOTES.md + memory files preserve full project state. Claude resumes with context a new hire would take 1–2 weeks to acquire.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438912" cy="43891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438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B5C"/>
                </a:solidFill>
                <a:latin typeface="Calibri"/>
              </a:rPr>
              <a:t>On-Demand Full-Stack Competency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114800"/>
            <a:ext cx="4846320" cy="228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1005840" y="4187952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1A1A2E"/>
                </a:solidFill>
                <a:latin typeface="Calibri"/>
              </a:defRPr>
            </a:lvl1pPr>
          </a:lstStyle>
          <a:p>
            <a:r>
              <a:rPr dirty="0"/>
              <a:t>Competent first-draft implementations across </a:t>
            </a:r>
            <a:r>
              <a:rPr dirty="0" err="1"/>
              <a:t>Next.js</a:t>
            </a:r>
            <a:r>
              <a:rPr dirty="0"/>
              <a:t>, </a:t>
            </a:r>
            <a:r>
              <a:rPr dirty="0" err="1"/>
              <a:t>Supabase</a:t>
            </a:r>
            <a:r>
              <a:rPr dirty="0"/>
              <a:t>, Recharts, and Tailwind — eliminating the "look this up for 45 minutes" tax.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438912" cy="43891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6217920" y="3657600"/>
            <a:ext cx="438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657600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B2D8E"/>
                </a:solidFill>
                <a:latin typeface="Calibri"/>
              </a:rPr>
              <a:t>Documentation as a Side-Effect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4114800"/>
            <a:ext cx="4846320" cy="228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6766560" y="4187952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1A1A2E"/>
                </a:solidFill>
                <a:latin typeface="Calibri"/>
              </a:defRPr>
            </a:lvl1pPr>
          </a:lstStyle>
          <a:p>
            <a:r>
              <a:t>Release notes, help page, and memory files updated after every feature — a discipline that is rare solo and hard to sustain in teams under pressure.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274320" y="6601968"/>
            <a:ext cx="11640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BzHub Efficiency Case Study  |  March 2026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07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Speed Did Not Come at the Cost of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QUALITY SIGNALS IN THE GIT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Each architecture migration preceded by a documented decision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Every migration left codebase in stable, deployed state before the next began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Known technical debt explicitly logged — not hidden — with a resolution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Per-feature documentation enforced as a hard project rule (5-step checklist)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Intentional debt (hardcoded auth, open RLS) acknowledged with planned fix 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INTENTIONAL DEBT — TRACKED, NOT HIDDEN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2651760" cy="54864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7373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Known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691640"/>
            <a:ext cx="2651760" cy="54864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5712" y="17373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Planned Fix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40280"/>
            <a:ext cx="265176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2860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Hardcoded auth
(admin/admin123)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240280"/>
            <a:ext cx="265176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22860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FEAT-036: Supabase Auth
(Phase 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889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28346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Open RLS policies
(no user filter)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7889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25712" y="28346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Tightens when auth ships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37560"/>
            <a:ext cx="265176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3832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No organization_id
on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337560"/>
            <a:ext cx="265176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5712" y="33832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FEAT-037: Multi-Tenancy
(Phase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11247120" cy="658368"/>
          </a:xfrm>
          <a:prstGeom prst="rect">
            <a:avLst/>
          </a:prstGeom>
          <a:solidFill>
            <a:srgbClr val="E8F4F6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13892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2B5C"/>
                </a:solidFill>
                <a:latin typeface="Calibri"/>
              </a:rPr>
              <a:t>"This reflects the discipline of an experienced Product Owner, not the output of unchecked code generation. Architecture was never sacrificed for speed."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BzHub Efficiency Case Study  |  March 2026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  <a:latin typeface="Calibri"/>
              </a:rPr>
              <a:t>08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315200" cy="3657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8C8E8"/>
                </a:solidFill>
                <a:latin typeface="Calibri"/>
              </a:rPr>
              <a:t>One Product Owner + Claude ≈ 3-Person Startup Dev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Velocity multiplier: 2–3x. Confirmed by git-derived data across 9 releases, 3 architecture migrations, and 8 live modules — delivered in 31 calendar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2468880" cy="49377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Zero handoff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4023360"/>
            <a:ext cx="2468880" cy="49377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406908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Persistent cross-session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023360"/>
            <a:ext cx="2468880" cy="49377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406908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On-demand full-stack competency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4023360"/>
            <a:ext cx="2468880" cy="49377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406908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Documentation as a side-effect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7A87"/>
                </a:solidFill>
                <a:latin typeface="Calibri"/>
              </a:rPr>
              <a:t>The gains are structural — not simply "Claude writes code faster."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99AA"/>
                </a:solidFill>
                <a:latin typeface="Calibri"/>
              </a:rPr>
              <a:t>© 2026 sunder-vasudevan.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"/>
            <a:ext cx="2560320" cy="20116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09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Calibri"/>
              </a:rPr>
              <a:t>How to Apply This Model to Your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2860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5B99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356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libri"/>
              </a:rPr>
              <a:t>Invest in context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 live NOTES.md session-start document eliminates the 15–30 min catch-up cost at the start of every AI session. This is the single highest-leverage practice.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394960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435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5B9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356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libri"/>
              </a:rPr>
              <a:t>Treat Claude as a full-session collaborator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Piecemeal queries do not capture the compounding gains. Sustained sessions where Claude holds architectural context are where the multiplier lives.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394960" cy="21031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673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5B99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67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libri"/>
              </a:rPr>
              <a:t>Keep the Product Owner in the architecture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Define what to build and why before asking Claude to help build it. Product direction and quality gate remain the human's responsibility.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394960" cy="21031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7673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5B99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67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libri"/>
              </a:rPr>
              <a:t>Use the multiplier effect, not the replacement effect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062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"One PO + Claude can reach a place that previously required a team." The Product Owner's judgment is still the rate limiter for quality.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BzHub Efficiency Case Study  |  March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1171</Words>
  <Application>Microsoft Macintosh PowerPoint</Application>
  <PresentationFormat>Custom</PresentationFormat>
  <Paragraphs>183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Sunder Vasudevan</cp:lastModifiedBy>
  <cp:revision>2</cp:revision>
  <dcterms:created xsi:type="dcterms:W3CDTF">2013-01-27T09:14:16Z</dcterms:created>
  <dcterms:modified xsi:type="dcterms:W3CDTF">2026-03-12T17:19:19Z</dcterms:modified>
  <cp:category/>
</cp:coreProperties>
</file>